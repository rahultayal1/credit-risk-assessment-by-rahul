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4610100" cy="3454400"/>
  <p:notesSz cx="6858000" cy="9144000"/>
  <p:embeddedFontLst>
    <p:embeddedFont>
      <p:font typeface="Canva Sans Bold" charset="1" panose="020B0803030501040103"/>
      <p:regular r:id="rId17"/>
    </p:embeddedFont>
    <p:embeddedFont>
      <p:font typeface="IBM Plex Sans Condensed" charset="1" panose="020B0506050203000203"/>
      <p:regular r:id="rId18"/>
    </p:embeddedFont>
    <p:embeddedFont>
      <p:font typeface="IBM Plex Sans Condensed Italics" charset="1" panose="020B0506050203000203"/>
      <p:regular r:id="rId19"/>
    </p:embeddedFont>
    <p:embeddedFont>
      <p:font typeface="IBM Plex Sans" charset="1" panose="020B0503050203000203"/>
      <p:regular r:id="rId20"/>
    </p:embeddedFont>
    <p:embeddedFont>
      <p:font typeface="IBM Plex Sans Condensed Bold" charset="1" panose="020B0806050203000203"/>
      <p:regular r:id="rId21"/>
    </p:embeddedFont>
    <p:embeddedFont>
      <p:font typeface="Open Sans Condensed" charset="1" panose="00000000000000000000"/>
      <p:regular r:id="rId22"/>
    </p:embeddedFont>
    <p:embeddedFont>
      <p:font typeface="Noto Sans" charset="1" panose="020B0502040504020204"/>
      <p:regular r:id="rId23"/>
    </p:embeddedFont>
    <p:embeddedFont>
      <p:font typeface="Open Sans 2" charset="1" panose="020B0606030504020204"/>
      <p:regular r:id="rId24"/>
    </p:embeddedFont>
    <p:embeddedFont>
      <p:font typeface="IBM Plex Sans Italics" charset="1" panose="020B050305020300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1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slide2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slide4.xml" Type="http://schemas.openxmlformats.org/officeDocument/2006/relationships/slide"/><Relationship Id="rId4" Target="slide6.xml" Type="http://schemas.openxmlformats.org/officeDocument/2006/relationships/slide"/><Relationship Id="rId5" Target="slide5.xml" Type="http://schemas.openxmlformats.org/officeDocument/2006/relationships/slide"/><Relationship Id="rId6" Target="slide2.xml" Type="http://schemas.openxmlformats.org/officeDocument/2006/relationships/slide"/><Relationship Id="rId7" Target="slide11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20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21.png" Type="http://schemas.openxmlformats.org/officeDocument/2006/relationships/image"/><Relationship Id="rId7" Target="slide2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21.png" Type="http://schemas.openxmlformats.org/officeDocument/2006/relationships/image"/><Relationship Id="rId7" Target="slide2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21.png" Type="http://schemas.openxmlformats.org/officeDocument/2006/relationships/image"/><Relationship Id="rId6" Target="slide2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21.png" Type="http://schemas.openxmlformats.org/officeDocument/2006/relationships/image"/><Relationship Id="rId8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3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42655" y="-84507"/>
            <a:ext cx="836226" cy="836226"/>
          </a:xfrm>
          <a:custGeom>
            <a:avLst/>
            <a:gdLst/>
            <a:ahLst/>
            <a:cxnLst/>
            <a:rect r="r" b="b" t="t" l="l"/>
            <a:pathLst>
              <a:path h="836226" w="836226">
                <a:moveTo>
                  <a:pt x="0" y="0"/>
                </a:moveTo>
                <a:lnTo>
                  <a:pt x="836226" y="0"/>
                </a:lnTo>
                <a:lnTo>
                  <a:pt x="836226" y="836226"/>
                </a:lnTo>
                <a:lnTo>
                  <a:pt x="0" y="83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59039" y="2631954"/>
            <a:ext cx="1450165" cy="1450165"/>
          </a:xfrm>
          <a:custGeom>
            <a:avLst/>
            <a:gdLst/>
            <a:ahLst/>
            <a:cxnLst/>
            <a:rect r="r" b="b" t="t" l="l"/>
            <a:pathLst>
              <a:path h="1450165" w="1450165">
                <a:moveTo>
                  <a:pt x="0" y="0"/>
                </a:moveTo>
                <a:lnTo>
                  <a:pt x="1450166" y="0"/>
                </a:lnTo>
                <a:lnTo>
                  <a:pt x="1450166" y="1450166"/>
                </a:lnTo>
                <a:lnTo>
                  <a:pt x="0" y="1450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554944" y="2565318"/>
            <a:ext cx="2488411" cy="24884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1904" lIns="21904" bIns="21904" rIns="21904"/>
            <a:lstStyle/>
            <a:p>
              <a:pPr algn="ctr">
                <a:lnSpc>
                  <a:spcPts val="114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61427" y="-628124"/>
            <a:ext cx="1087234" cy="1087234"/>
          </a:xfrm>
          <a:custGeom>
            <a:avLst/>
            <a:gdLst/>
            <a:ahLst/>
            <a:cxnLst/>
            <a:rect r="r" b="b" t="t" l="l"/>
            <a:pathLst>
              <a:path h="1087234" w="1087234">
                <a:moveTo>
                  <a:pt x="0" y="0"/>
                </a:moveTo>
                <a:lnTo>
                  <a:pt x="1087234" y="0"/>
                </a:lnTo>
                <a:lnTo>
                  <a:pt x="1087234" y="1087234"/>
                </a:lnTo>
                <a:lnTo>
                  <a:pt x="0" y="1087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4122" y="1486481"/>
            <a:ext cx="1440070" cy="706943"/>
          </a:xfrm>
          <a:custGeom>
            <a:avLst/>
            <a:gdLst/>
            <a:ahLst/>
            <a:cxnLst/>
            <a:rect r="r" b="b" t="t" l="l"/>
            <a:pathLst>
              <a:path h="706943" w="1440070">
                <a:moveTo>
                  <a:pt x="0" y="0"/>
                </a:moveTo>
                <a:lnTo>
                  <a:pt x="1440070" y="0"/>
                </a:lnTo>
                <a:lnTo>
                  <a:pt x="1440070" y="706944"/>
                </a:lnTo>
                <a:lnTo>
                  <a:pt x="0" y="706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49223" y="1727208"/>
            <a:ext cx="1840737" cy="225490"/>
          </a:xfrm>
          <a:custGeom>
            <a:avLst/>
            <a:gdLst/>
            <a:ahLst/>
            <a:cxnLst/>
            <a:rect r="r" b="b" t="t" l="l"/>
            <a:pathLst>
              <a:path h="225490" w="1840737">
                <a:moveTo>
                  <a:pt x="0" y="0"/>
                </a:moveTo>
                <a:lnTo>
                  <a:pt x="1840737" y="0"/>
                </a:lnTo>
                <a:lnTo>
                  <a:pt x="1840737" y="225490"/>
                </a:lnTo>
                <a:lnTo>
                  <a:pt x="0" y="2254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21282" y="-722890"/>
            <a:ext cx="1377612" cy="1377612"/>
          </a:xfrm>
          <a:custGeom>
            <a:avLst/>
            <a:gdLst/>
            <a:ahLst/>
            <a:cxnLst/>
            <a:rect r="r" b="b" t="t" l="l"/>
            <a:pathLst>
              <a:path h="1377612" w="1377612">
                <a:moveTo>
                  <a:pt x="0" y="0"/>
                </a:moveTo>
                <a:lnTo>
                  <a:pt x="1377612" y="0"/>
                </a:lnTo>
                <a:lnTo>
                  <a:pt x="1377612" y="1377613"/>
                </a:lnTo>
                <a:lnTo>
                  <a:pt x="0" y="13776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3278" y="96717"/>
            <a:ext cx="4409073" cy="3260320"/>
            <a:chOff x="0" y="0"/>
            <a:chExt cx="3572760" cy="26419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72760" cy="2641902"/>
            </a:xfrm>
            <a:custGeom>
              <a:avLst/>
              <a:gdLst/>
              <a:ahLst/>
              <a:cxnLst/>
              <a:rect r="r" b="b" t="t" l="l"/>
              <a:pathLst>
                <a:path h="2641902" w="3572760">
                  <a:moveTo>
                    <a:pt x="0" y="0"/>
                  </a:moveTo>
                  <a:lnTo>
                    <a:pt x="3572760" y="0"/>
                  </a:lnTo>
                  <a:lnTo>
                    <a:pt x="3572760" y="2641902"/>
                  </a:lnTo>
                  <a:lnTo>
                    <a:pt x="0" y="26419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572760" cy="2660952"/>
            </a:xfrm>
            <a:prstGeom prst="rect">
              <a:avLst/>
            </a:prstGeom>
          </p:spPr>
          <p:txBody>
            <a:bodyPr anchor="ctr" rtlCol="false" tIns="21904" lIns="21904" bIns="21904" rIns="21904"/>
            <a:lstStyle/>
            <a:p>
              <a:pPr algn="ctr">
                <a:lnSpc>
                  <a:spcPts val="114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58648" y="997547"/>
            <a:ext cx="1518333" cy="1458661"/>
          </a:xfrm>
          <a:custGeom>
            <a:avLst/>
            <a:gdLst/>
            <a:ahLst/>
            <a:cxnLst/>
            <a:rect r="r" b="b" t="t" l="l"/>
            <a:pathLst>
              <a:path h="1458661" w="1518333">
                <a:moveTo>
                  <a:pt x="0" y="0"/>
                </a:moveTo>
                <a:lnTo>
                  <a:pt x="1518333" y="0"/>
                </a:lnTo>
                <a:lnTo>
                  <a:pt x="1518333" y="1458661"/>
                </a:lnTo>
                <a:lnTo>
                  <a:pt x="0" y="14586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7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60256" y="195526"/>
            <a:ext cx="616645" cy="207599"/>
          </a:xfrm>
          <a:custGeom>
            <a:avLst/>
            <a:gdLst/>
            <a:ahLst/>
            <a:cxnLst/>
            <a:rect r="r" b="b" t="t" l="l"/>
            <a:pathLst>
              <a:path h="207599" w="616645">
                <a:moveTo>
                  <a:pt x="0" y="0"/>
                </a:moveTo>
                <a:lnTo>
                  <a:pt x="616645" y="0"/>
                </a:lnTo>
                <a:lnTo>
                  <a:pt x="616645" y="207599"/>
                </a:lnTo>
                <a:lnTo>
                  <a:pt x="0" y="20759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0779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2217" y="138376"/>
            <a:ext cx="428565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on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Credit Risk Assessment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442" y="1595712"/>
            <a:ext cx="3611768" cy="4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7"/>
              </a:lnSpc>
            </a:pPr>
            <a:r>
              <a:rPr lang="en-US" sz="134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to :- Mr. Devansh </a:t>
            </a:r>
          </a:p>
          <a:p>
            <a:pPr algn="ctr">
              <a:lnSpc>
                <a:spcPts val="1887"/>
              </a:lnSpc>
            </a:pPr>
            <a:r>
              <a:rPr lang="en-US" sz="134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Assistant Professor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217" y="2360894"/>
            <a:ext cx="3906362" cy="6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 :- Rahul Tayal  </a:t>
            </a:r>
          </a:p>
          <a:p>
            <a:pPr algn="ctr">
              <a:lnSpc>
                <a:spcPts val="1715"/>
              </a:lnSpc>
            </a:pPr>
            <a:r>
              <a:rPr lang="en-US" sz="12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72311669</a:t>
            </a:r>
          </a:p>
          <a:p>
            <a:pPr algn="ctr">
              <a:lnSpc>
                <a:spcPts val="1715"/>
              </a:lnSpc>
            </a:pPr>
            <a:r>
              <a:rPr lang="en-US" sz="12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BBA IBM (BA) Sec-A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230" y="495986"/>
            <a:ext cx="4634408" cy="848106"/>
            <a:chOff x="0" y="0"/>
            <a:chExt cx="4634408" cy="848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456557" cy="82423"/>
            </a:xfrm>
            <a:custGeom>
              <a:avLst/>
              <a:gdLst/>
              <a:ahLst/>
              <a:cxnLst/>
              <a:rect r="r" b="b" t="t" l="l"/>
              <a:pathLst>
                <a:path h="82423" w="4456557">
                  <a:moveTo>
                    <a:pt x="0" y="50800"/>
                  </a:moveTo>
                  <a:cubicBezTo>
                    <a:pt x="0" y="22860"/>
                    <a:pt x="22860" y="0"/>
                    <a:pt x="50800" y="0"/>
                  </a:cubicBezTo>
                  <a:lnTo>
                    <a:pt x="4405757" y="0"/>
                  </a:lnTo>
                  <a:cubicBezTo>
                    <a:pt x="4433697" y="0"/>
                    <a:pt x="4456557" y="22860"/>
                    <a:pt x="4456557" y="50800"/>
                  </a:cubicBezTo>
                  <a:lnTo>
                    <a:pt x="4456557" y="82423"/>
                  </a:lnTo>
                  <a:lnTo>
                    <a:pt x="0" y="82423"/>
                  </a:lnTo>
                </a:path>
              </a:pathLst>
            </a:custGeom>
            <a:solidFill>
              <a:srgbClr val="D9D9D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4300" y="126746"/>
              <a:ext cx="4456557" cy="657860"/>
            </a:xfrm>
            <a:custGeom>
              <a:avLst/>
              <a:gdLst/>
              <a:ahLst/>
              <a:cxnLst/>
              <a:rect r="r" b="b" t="t" l="l"/>
              <a:pathLst>
                <a:path h="657860" w="4456557">
                  <a:moveTo>
                    <a:pt x="0" y="657860"/>
                  </a:moveTo>
                  <a:lnTo>
                    <a:pt x="4456557" y="657860"/>
                  </a:lnTo>
                  <a:lnTo>
                    <a:pt x="44565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07950"/>
              <a:ext cx="4456557" cy="625856"/>
            </a:xfrm>
            <a:custGeom>
              <a:avLst/>
              <a:gdLst/>
              <a:ahLst/>
              <a:cxnLst/>
              <a:rect r="r" b="b" t="t" l="l"/>
              <a:pathLst>
                <a:path h="625856" w="4456557">
                  <a:moveTo>
                    <a:pt x="0" y="575056"/>
                  </a:moveTo>
                  <a:cubicBezTo>
                    <a:pt x="0" y="602996"/>
                    <a:pt x="22860" y="625856"/>
                    <a:pt x="50800" y="625856"/>
                  </a:cubicBezTo>
                  <a:lnTo>
                    <a:pt x="4405757" y="625856"/>
                  </a:lnTo>
                  <a:cubicBezTo>
                    <a:pt x="4433697" y="625856"/>
                    <a:pt x="4456557" y="602996"/>
                    <a:pt x="4456557" y="575056"/>
                  </a:cubicBezTo>
                  <a:lnTo>
                    <a:pt x="4456557" y="0"/>
                  </a:lnTo>
                  <a:lnTo>
                    <a:pt x="0" y="0"/>
                  </a:lnTo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63503" y="3202334"/>
            <a:ext cx="4734925" cy="317173"/>
            <a:chOff x="0" y="0"/>
            <a:chExt cx="4734928" cy="3171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30042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5308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23088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4550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2" y="12700"/>
                  </a:lnTo>
                  <a:lnTo>
                    <a:pt x="15622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23971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68388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59498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67118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942080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65880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942080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213098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511929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485132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390100" y="64770"/>
              <a:ext cx="238617" cy="55880"/>
            </a:xfrm>
            <a:custGeom>
              <a:avLst/>
              <a:gdLst/>
              <a:ahLst/>
              <a:cxnLst/>
              <a:rect r="r" b="b" t="t" l="l"/>
              <a:pathLst>
                <a:path h="55880" w="238617">
                  <a:moveTo>
                    <a:pt x="43216" y="50800"/>
                  </a:moveTo>
                  <a:cubicBezTo>
                    <a:pt x="55535" y="50800"/>
                    <a:pt x="66076" y="40513"/>
                    <a:pt x="66076" y="27940"/>
                  </a:cubicBezTo>
                  <a:lnTo>
                    <a:pt x="68616" y="27940"/>
                  </a:lnTo>
                  <a:lnTo>
                    <a:pt x="66076" y="27940"/>
                  </a:lnTo>
                  <a:cubicBezTo>
                    <a:pt x="66076" y="15367"/>
                    <a:pt x="55789" y="5080"/>
                    <a:pt x="43216" y="5080"/>
                  </a:cubicBezTo>
                  <a:lnTo>
                    <a:pt x="43216" y="2540"/>
                  </a:lnTo>
                  <a:lnTo>
                    <a:pt x="43216" y="5080"/>
                  </a:lnTo>
                  <a:cubicBezTo>
                    <a:pt x="30643" y="5080"/>
                    <a:pt x="20356" y="15367"/>
                    <a:pt x="20356" y="27940"/>
                  </a:cubicBezTo>
                  <a:cubicBezTo>
                    <a:pt x="20356" y="29337"/>
                    <a:pt x="19213" y="30480"/>
                    <a:pt x="17816" y="30480"/>
                  </a:cubicBezTo>
                  <a:cubicBezTo>
                    <a:pt x="16419" y="30480"/>
                    <a:pt x="15276" y="29337"/>
                    <a:pt x="15276" y="27940"/>
                  </a:cubicBezTo>
                  <a:cubicBezTo>
                    <a:pt x="15276" y="12573"/>
                    <a:pt x="27849" y="0"/>
                    <a:pt x="43216" y="0"/>
                  </a:cubicBezTo>
                  <a:cubicBezTo>
                    <a:pt x="58583" y="0"/>
                    <a:pt x="71156" y="12573"/>
                    <a:pt x="71156" y="27940"/>
                  </a:cubicBezTo>
                  <a:cubicBezTo>
                    <a:pt x="71156" y="43307"/>
                    <a:pt x="58329" y="55880"/>
                    <a:pt x="43216" y="55880"/>
                  </a:cubicBezTo>
                  <a:cubicBezTo>
                    <a:pt x="41819" y="55880"/>
                    <a:pt x="40676" y="54737"/>
                    <a:pt x="40676" y="53340"/>
                  </a:cubicBezTo>
                  <a:cubicBezTo>
                    <a:pt x="40676" y="51943"/>
                    <a:pt x="41819" y="50800"/>
                    <a:pt x="43216" y="50800"/>
                  </a:cubicBezTo>
                  <a:close/>
                  <a:moveTo>
                    <a:pt x="34707" y="22225"/>
                  </a:moveTo>
                  <a:lnTo>
                    <a:pt x="19467" y="34925"/>
                  </a:lnTo>
                  <a:lnTo>
                    <a:pt x="17815" y="36322"/>
                  </a:lnTo>
                  <a:lnTo>
                    <a:pt x="16164" y="34925"/>
                  </a:lnTo>
                  <a:lnTo>
                    <a:pt x="924" y="22225"/>
                  </a:lnTo>
                  <a:cubicBezTo>
                    <a:pt x="-92" y="21336"/>
                    <a:pt x="-346" y="19685"/>
                    <a:pt x="543" y="18669"/>
                  </a:cubicBezTo>
                  <a:cubicBezTo>
                    <a:pt x="1432" y="17653"/>
                    <a:pt x="3083" y="17399"/>
                    <a:pt x="4099" y="18288"/>
                  </a:cubicBezTo>
                  <a:lnTo>
                    <a:pt x="19339" y="30988"/>
                  </a:lnTo>
                  <a:lnTo>
                    <a:pt x="17688" y="32893"/>
                  </a:lnTo>
                  <a:lnTo>
                    <a:pt x="16037" y="30988"/>
                  </a:lnTo>
                  <a:lnTo>
                    <a:pt x="31277" y="18288"/>
                  </a:lnTo>
                  <a:cubicBezTo>
                    <a:pt x="32293" y="17399"/>
                    <a:pt x="33944" y="17526"/>
                    <a:pt x="34833" y="18669"/>
                  </a:cubicBezTo>
                  <a:cubicBezTo>
                    <a:pt x="35722" y="19812"/>
                    <a:pt x="35595" y="21336"/>
                    <a:pt x="34452" y="22225"/>
                  </a:cubicBezTo>
                  <a:close/>
                  <a:moveTo>
                    <a:pt x="195616" y="55880"/>
                  </a:moveTo>
                  <a:cubicBezTo>
                    <a:pt x="180249" y="55880"/>
                    <a:pt x="167676" y="43307"/>
                    <a:pt x="167676" y="27940"/>
                  </a:cubicBezTo>
                  <a:lnTo>
                    <a:pt x="170216" y="27940"/>
                  </a:lnTo>
                  <a:lnTo>
                    <a:pt x="167676" y="27940"/>
                  </a:lnTo>
                  <a:cubicBezTo>
                    <a:pt x="167676" y="12573"/>
                    <a:pt x="180249" y="0"/>
                    <a:pt x="195616" y="0"/>
                  </a:cubicBezTo>
                  <a:lnTo>
                    <a:pt x="195616" y="2540"/>
                  </a:lnTo>
                  <a:lnTo>
                    <a:pt x="195616" y="0"/>
                  </a:lnTo>
                  <a:cubicBezTo>
                    <a:pt x="210983" y="0"/>
                    <a:pt x="223556" y="12573"/>
                    <a:pt x="223556" y="27940"/>
                  </a:cubicBezTo>
                  <a:cubicBezTo>
                    <a:pt x="223556" y="29337"/>
                    <a:pt x="222413" y="30480"/>
                    <a:pt x="221016" y="30480"/>
                  </a:cubicBezTo>
                  <a:cubicBezTo>
                    <a:pt x="219619" y="30480"/>
                    <a:pt x="218476" y="29337"/>
                    <a:pt x="218476" y="27940"/>
                  </a:cubicBezTo>
                  <a:cubicBezTo>
                    <a:pt x="218476" y="15367"/>
                    <a:pt x="208189" y="5080"/>
                    <a:pt x="195616" y="5080"/>
                  </a:cubicBezTo>
                  <a:cubicBezTo>
                    <a:pt x="183043" y="5080"/>
                    <a:pt x="172756" y="15367"/>
                    <a:pt x="172756" y="27940"/>
                  </a:cubicBezTo>
                  <a:cubicBezTo>
                    <a:pt x="172756" y="40513"/>
                    <a:pt x="183043" y="50800"/>
                    <a:pt x="195616" y="50800"/>
                  </a:cubicBezTo>
                  <a:cubicBezTo>
                    <a:pt x="197013" y="50800"/>
                    <a:pt x="198156" y="51943"/>
                    <a:pt x="198156" y="53340"/>
                  </a:cubicBezTo>
                  <a:cubicBezTo>
                    <a:pt x="198156" y="54737"/>
                    <a:pt x="197013" y="55880"/>
                    <a:pt x="195616" y="55880"/>
                  </a:cubicBezTo>
                  <a:close/>
                  <a:moveTo>
                    <a:pt x="237907" y="22225"/>
                  </a:moveTo>
                  <a:lnTo>
                    <a:pt x="222667" y="34925"/>
                  </a:lnTo>
                  <a:lnTo>
                    <a:pt x="221015" y="36322"/>
                  </a:lnTo>
                  <a:lnTo>
                    <a:pt x="219364" y="34925"/>
                  </a:lnTo>
                  <a:lnTo>
                    <a:pt x="204124" y="22225"/>
                  </a:lnTo>
                  <a:cubicBezTo>
                    <a:pt x="203108" y="21336"/>
                    <a:pt x="202854" y="19685"/>
                    <a:pt x="203743" y="18669"/>
                  </a:cubicBezTo>
                  <a:cubicBezTo>
                    <a:pt x="204632" y="17653"/>
                    <a:pt x="206283" y="17399"/>
                    <a:pt x="207299" y="18288"/>
                  </a:cubicBezTo>
                  <a:lnTo>
                    <a:pt x="222539" y="30988"/>
                  </a:lnTo>
                  <a:lnTo>
                    <a:pt x="220888" y="32893"/>
                  </a:lnTo>
                  <a:lnTo>
                    <a:pt x="219237" y="30988"/>
                  </a:lnTo>
                  <a:lnTo>
                    <a:pt x="234477" y="18288"/>
                  </a:lnTo>
                  <a:cubicBezTo>
                    <a:pt x="235493" y="17399"/>
                    <a:pt x="237144" y="17526"/>
                    <a:pt x="238033" y="18669"/>
                  </a:cubicBezTo>
                  <a:cubicBezTo>
                    <a:pt x="238922" y="19812"/>
                    <a:pt x="238795" y="21336"/>
                    <a:pt x="237652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162433"/>
              <a:ext cx="1535938" cy="91313"/>
            </a:xfrm>
            <a:custGeom>
              <a:avLst/>
              <a:gdLst/>
              <a:ahLst/>
              <a:cxnLst/>
              <a:rect r="r" b="b" t="t" l="l"/>
              <a:pathLst>
                <a:path h="91313" w="1535938">
                  <a:moveTo>
                    <a:pt x="0" y="0"/>
                  </a:moveTo>
                  <a:lnTo>
                    <a:pt x="0" y="91313"/>
                  </a:lnTo>
                  <a:lnTo>
                    <a:pt x="1535938" y="91313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A3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99438" y="162433"/>
              <a:ext cx="1536065" cy="91313"/>
            </a:xfrm>
            <a:custGeom>
              <a:avLst/>
              <a:gdLst/>
              <a:ahLst/>
              <a:cxnLst/>
              <a:rect r="r" b="b" t="t" l="l"/>
              <a:pathLst>
                <a:path h="91313" w="1536065">
                  <a:moveTo>
                    <a:pt x="0" y="0"/>
                  </a:moveTo>
                  <a:lnTo>
                    <a:pt x="0" y="91313"/>
                  </a:lnTo>
                  <a:lnTo>
                    <a:pt x="1536065" y="91313"/>
                  </a:lnTo>
                  <a:lnTo>
                    <a:pt x="1536065" y="0"/>
                  </a:ln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35503" y="162433"/>
              <a:ext cx="1535938" cy="91313"/>
            </a:xfrm>
            <a:custGeom>
              <a:avLst/>
              <a:gdLst/>
              <a:ahLst/>
              <a:cxnLst/>
              <a:rect r="r" b="b" t="t" l="l"/>
              <a:pathLst>
                <a:path h="91313" w="1535938">
                  <a:moveTo>
                    <a:pt x="0" y="0"/>
                  </a:moveTo>
                  <a:lnTo>
                    <a:pt x="0" y="91313"/>
                  </a:lnTo>
                  <a:lnTo>
                    <a:pt x="1535938" y="91313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92531" y="630250"/>
            <a:ext cx="3491389" cy="44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Analysis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Mitigation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Strategies</a:t>
            </a:r>
          </a:p>
          <a:p>
            <a:pPr algn="ctr">
              <a:lnSpc>
                <a:spcPts val="1394"/>
              </a:lnSpc>
            </a:pP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Insights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93618" y="1427655"/>
            <a:ext cx="837190" cy="16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86385" y="1971580"/>
            <a:ext cx="1055942" cy="16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November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24,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0131" y="2818581"/>
            <a:ext cx="3790683" cy="2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Deep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Dive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into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Borrower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Characteristics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and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Default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1195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Risk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action="ppaction://hlinksldjump"/>
              </a:rPr>
              <a:t>Risk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03" y="10668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003" y="14097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1600200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21590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4003" y="2349503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003" y="2540003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8004" y="24394"/>
            <a:ext cx="2101110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Introduction</a:t>
            </a:r>
            <a:r>
              <a:rPr lang="en-US" sz="143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43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Objectives</a:t>
            </a:r>
          </a:p>
          <a:p>
            <a:pPr algn="l">
              <a:lnSpc>
                <a:spcPts val="1115"/>
              </a:lnSpc>
            </a:pP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Defining</a:t>
            </a:r>
            <a:r>
              <a:rPr lang="en-US" sz="797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797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scope</a:t>
            </a:r>
            <a:r>
              <a:rPr lang="en-US" sz="797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</a:t>
            </a:r>
            <a:r>
              <a:rPr lang="en-US" sz="797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797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8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581" y="1009021"/>
            <a:ext cx="4166968" cy="68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What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is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Credit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Risk?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potential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loss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arising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borrower’s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failure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 meet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obligations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(loan_status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1).</a:t>
            </a:r>
          </a:p>
          <a:p>
            <a:pPr algn="l">
              <a:lnSpc>
                <a:spcPts val="1793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Source: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(32k+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records,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features).</a:t>
            </a:r>
          </a:p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Goal: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shift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reactive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loss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management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proactive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mitigation.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1788919"/>
            <a:ext cx="926878" cy="2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Key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Objectives: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581" y="2168195"/>
            <a:ext cx="3885495" cy="4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Identify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influential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factors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driving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default.</a:t>
            </a:r>
          </a:p>
          <a:p>
            <a:pPr algn="l">
              <a:lnSpc>
                <a:spcPts val="2490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Analyze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distribution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demographic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segments.</a:t>
            </a:r>
          </a:p>
          <a:p>
            <a:pPr algn="l">
              <a:lnSpc>
                <a:spcPts val="498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Propose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actionable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policy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recommendations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lending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practices.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9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9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9" action="ppaction://hlinksldjump"/>
              </a:rPr>
              <a:t>Risk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197" y="118110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3197" y="152400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3197" y="201930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2603497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4003" y="2793997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63803" y="1358903"/>
            <a:ext cx="76200" cy="63503"/>
          </a:xfrm>
          <a:custGeom>
            <a:avLst/>
            <a:gdLst/>
            <a:ahLst/>
            <a:cxnLst/>
            <a:rect r="r" b="b" t="t" l="l"/>
            <a:pathLst>
              <a:path h="63503" w="76200">
                <a:moveTo>
                  <a:pt x="0" y="0"/>
                </a:moveTo>
                <a:lnTo>
                  <a:pt x="76200" y="0"/>
                </a:lnTo>
                <a:lnTo>
                  <a:pt x="76200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63803" y="184149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004" y="24394"/>
            <a:ext cx="2825153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Overview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Selection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variables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quality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observations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2328729"/>
            <a:ext cx="1137237" cy="1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Quality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Note: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571" y="2517505"/>
            <a:ext cx="914105" cy="5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Missing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values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 Outliers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found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</a:p>
          <a:p>
            <a:pPr algn="just">
              <a:lnSpc>
                <a:spcPts val="896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capping.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30" y="645366"/>
            <a:ext cx="944947" cy="2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Target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Variable: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530" y="869194"/>
            <a:ext cx="1156211" cy="20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Predictor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Variables: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7404" y="1101604"/>
            <a:ext cx="1605334" cy="82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7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Financial:</a:t>
            </a:r>
          </a:p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loan_amnt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loan_int_rate.</a:t>
            </a:r>
          </a:p>
          <a:p>
            <a:pPr algn="l">
              <a:lnSpc>
                <a:spcPts val="204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Risk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Metric:</a:t>
            </a:r>
          </a:p>
          <a:p>
            <a:pPr algn="l">
              <a:lnSpc>
                <a:spcPts val="498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loan_percent_income</a:t>
            </a:r>
          </a:p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(Debt-to-Income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241" y="1300039"/>
            <a:ext cx="35881" cy="1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7404" y="1974780"/>
            <a:ext cx="870480" cy="1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Credit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Quality: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1940" y="682457"/>
            <a:ext cx="1315726" cy="16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(0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Paid,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99230" y="1793100"/>
            <a:ext cx="508349" cy="1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Context: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9230" y="1943929"/>
            <a:ext cx="670836" cy="15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2087" y="1298648"/>
            <a:ext cx="35881" cy="15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94175" y="1450477"/>
            <a:ext cx="35881" cy="15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26605" y="1668266"/>
            <a:ext cx="485118" cy="27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(Purp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38006" y="2517505"/>
            <a:ext cx="1803225" cy="36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)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imputation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exclusion. were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addressed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9129" y="693696"/>
            <a:ext cx="745303" cy="16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loan_status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461" y="1122950"/>
            <a:ext cx="916686" cy="16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person_income,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6984" y="1958026"/>
            <a:ext cx="713422" cy="16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loan_grade,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7404" y="2109854"/>
            <a:ext cx="1797491" cy="16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cb_person_cred_hist_length.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7889" y="2606535"/>
            <a:ext cx="1009860" cy="9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loan_int_rate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72779" y="2629710"/>
            <a:ext cx="372532" cy="13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≈10%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2440" y="2605830"/>
            <a:ext cx="2110854" cy="28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person_age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person_emp_length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99230" y="1299658"/>
            <a:ext cx="1553308" cy="15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Demographic: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person_age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99230" y="1461716"/>
            <a:ext cx="1422844" cy="29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person_home_ownership person_emp_length.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53785" y="1746190"/>
            <a:ext cx="745293" cy="20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loan_intent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0107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Risk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790700"/>
            <a:ext cx="4737097" cy="1739903"/>
          </a:xfrm>
          <a:custGeom>
            <a:avLst/>
            <a:gdLst/>
            <a:ahLst/>
            <a:cxnLst/>
            <a:rect r="r" b="b" t="t" l="l"/>
            <a:pathLst>
              <a:path h="1739903" w="4737097">
                <a:moveTo>
                  <a:pt x="0" y="0"/>
                </a:moveTo>
                <a:lnTo>
                  <a:pt x="4737097" y="0"/>
                </a:lnTo>
                <a:lnTo>
                  <a:pt x="4737097" y="1739903"/>
                </a:lnTo>
                <a:lnTo>
                  <a:pt x="0" y="1739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004" y="24394"/>
            <a:ext cx="1920659" cy="26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Baseline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Assessment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04" y="303800"/>
            <a:ext cx="944480" cy="13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Overall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Default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405" y="704555"/>
            <a:ext cx="2232803" cy="16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Overall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Default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Rate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(Unconditional):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7255" y="989743"/>
            <a:ext cx="441055" cy="33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066" spc="68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21.8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9681" y="927849"/>
            <a:ext cx="222428" cy="35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06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0268" y="941308"/>
            <a:ext cx="208188" cy="49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066" spc="36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≈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8026" y="1313488"/>
            <a:ext cx="1480976" cy="47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b="true" sz="2066" spc="4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Key</a:t>
            </a:r>
            <a:r>
              <a:rPr lang="en-US" b="true" sz="2066" spc="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2066" spc="4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Insight: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30" y="1825361"/>
            <a:ext cx="4259847" cy="148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 Baseline Risk</a:t>
            </a:r>
          </a:p>
          <a:p>
            <a:pPr algn="l">
              <a:lnSpc>
                <a:spcPts val="2489"/>
              </a:lnSpc>
            </a:pP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every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loans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issued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 portfolio,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approximately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22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resulted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loss.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baseline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necessitates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deep,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segmented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analysis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o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is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o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la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te</a:t>
            </a:r>
            <a:r>
              <a:rPr lang="en-US" sz="2066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7" action="ppaction://hlinksldjump"/>
              </a:rPr>
              <a:t> 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ri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7" action="ppaction://hlinksldjump"/>
              </a:rPr>
              <a:t>s</a:t>
            </a:r>
            <a:r>
              <a:rPr lang="en-US" sz="2066" spc="-7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0116" y="3304108"/>
            <a:ext cx="508997" cy="13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ADataAnalyst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8307" y="3304108"/>
            <a:ext cx="382067" cy="13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CreditRisk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70539" y="3304108"/>
            <a:ext cx="560689" cy="13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498" spc="-5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November24,2025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03" y="7112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003" y="1054103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8200" y="1676400"/>
            <a:ext cx="2933700" cy="12697"/>
          </a:xfrm>
          <a:custGeom>
            <a:avLst/>
            <a:gdLst/>
            <a:ahLst/>
            <a:cxnLst/>
            <a:rect r="r" b="b" t="t" l="l"/>
            <a:pathLst>
              <a:path h="12697" w="2933700">
                <a:moveTo>
                  <a:pt x="0" y="0"/>
                </a:moveTo>
                <a:lnTo>
                  <a:pt x="2933700" y="0"/>
                </a:lnTo>
                <a:lnTo>
                  <a:pt x="29337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8200" y="2412997"/>
            <a:ext cx="2933700" cy="25403"/>
          </a:xfrm>
          <a:custGeom>
            <a:avLst/>
            <a:gdLst/>
            <a:ahLst/>
            <a:cxnLst/>
            <a:rect r="r" b="b" t="t" l="l"/>
            <a:pathLst>
              <a:path h="25403" w="2933700">
                <a:moveTo>
                  <a:pt x="0" y="0"/>
                </a:moveTo>
                <a:lnTo>
                  <a:pt x="2933700" y="0"/>
                </a:lnTo>
                <a:lnTo>
                  <a:pt x="2933700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04" y="24394"/>
            <a:ext cx="2673877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Segmentation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primary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driver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default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30" y="2898458"/>
            <a:ext cx="3719770" cy="30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Power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BI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Visualization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Suggestion: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Bar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Chart: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Default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Rate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by loan_grade.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Must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clearly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show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the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steep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gradient.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581" y="721185"/>
            <a:ext cx="4145147" cy="57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Loan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Grade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(A</a:t>
            </a:r>
          </a:p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probability.</a:t>
            </a:r>
          </a:p>
          <a:p>
            <a:pPr algn="l">
              <a:lnSpc>
                <a:spcPts val="10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Observation: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increases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systematically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worsens</a:t>
            </a:r>
          </a:p>
          <a:p>
            <a:pPr algn="l">
              <a:lnSpc>
                <a:spcPts val="1296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(from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1426" y="733082"/>
            <a:ext cx="3004652" cy="14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→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G):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strongest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predictor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1285932"/>
            <a:ext cx="2740504" cy="2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Illustrative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(Simulated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for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Presentation):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1372" y="1603410"/>
            <a:ext cx="2820524" cy="77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8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Loan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Grade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Average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Int.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Rate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Default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Rate</a:t>
            </a:r>
          </a:p>
          <a:p>
            <a:pPr algn="just">
              <a:lnSpc>
                <a:spcPts val="1200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00310" y="1896866"/>
            <a:ext cx="336671" cy="49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7.9%</a:t>
            </a: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12.7%</a:t>
            </a: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17.5%</a:t>
            </a: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8536" y="1896866"/>
            <a:ext cx="336671" cy="49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996" spc="-3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6.5% 24.0% 50.1%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5219" y="2480767"/>
            <a:ext cx="2363905" cy="15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896" spc="7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Table: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increases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sharply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lower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896" spc="7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Risk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5/10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197" y="1574797"/>
            <a:ext cx="76200" cy="63503"/>
          </a:xfrm>
          <a:custGeom>
            <a:avLst/>
            <a:gdLst/>
            <a:ahLst/>
            <a:cxnLst/>
            <a:rect r="r" b="b" t="t" l="l"/>
            <a:pathLst>
              <a:path h="63503" w="76200">
                <a:moveTo>
                  <a:pt x="0" y="0"/>
                </a:moveTo>
                <a:lnTo>
                  <a:pt x="76200" y="0"/>
                </a:lnTo>
                <a:lnTo>
                  <a:pt x="76200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3197" y="1917697"/>
            <a:ext cx="76200" cy="63503"/>
          </a:xfrm>
          <a:custGeom>
            <a:avLst/>
            <a:gdLst/>
            <a:ahLst/>
            <a:cxnLst/>
            <a:rect r="r" b="b" t="t" l="l"/>
            <a:pathLst>
              <a:path h="63503" w="76200">
                <a:moveTo>
                  <a:pt x="0" y="0"/>
                </a:moveTo>
                <a:lnTo>
                  <a:pt x="76200" y="0"/>
                </a:lnTo>
                <a:lnTo>
                  <a:pt x="76200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800100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1143000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63803" y="1574797"/>
            <a:ext cx="76200" cy="63503"/>
          </a:xfrm>
          <a:custGeom>
            <a:avLst/>
            <a:gdLst/>
            <a:ahLst/>
            <a:cxnLst/>
            <a:rect r="r" b="b" t="t" l="l"/>
            <a:pathLst>
              <a:path h="63503" w="76200">
                <a:moveTo>
                  <a:pt x="0" y="0"/>
                </a:moveTo>
                <a:lnTo>
                  <a:pt x="76200" y="0"/>
                </a:lnTo>
                <a:lnTo>
                  <a:pt x="76200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63803" y="1917697"/>
            <a:ext cx="76200" cy="63503"/>
          </a:xfrm>
          <a:custGeom>
            <a:avLst/>
            <a:gdLst/>
            <a:ahLst/>
            <a:cxnLst/>
            <a:rect r="r" b="b" t="t" l="l"/>
            <a:pathLst>
              <a:path h="63503" w="76200">
                <a:moveTo>
                  <a:pt x="0" y="0"/>
                </a:moveTo>
                <a:lnTo>
                  <a:pt x="76200" y="0"/>
                </a:lnTo>
                <a:lnTo>
                  <a:pt x="76200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2082803"/>
            <a:ext cx="4648200" cy="723900"/>
          </a:xfrm>
          <a:custGeom>
            <a:avLst/>
            <a:gdLst/>
            <a:ahLst/>
            <a:cxnLst/>
            <a:rect r="r" b="b" t="t" l="l"/>
            <a:pathLst>
              <a:path h="723900" w="4648200">
                <a:moveTo>
                  <a:pt x="0" y="0"/>
                </a:moveTo>
                <a:lnTo>
                  <a:pt x="4648200" y="0"/>
                </a:lnTo>
                <a:lnTo>
                  <a:pt x="46482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004" y="62494"/>
            <a:ext cx="2681869" cy="2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5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Critical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Ratio: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Loan-to-Income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5534" y="255737"/>
            <a:ext cx="1041635" cy="1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797" spc="5">
                <a:solidFill>
                  <a:srgbClr val="CC0000"/>
                </a:solidFill>
                <a:latin typeface="Open Sans 2"/>
                <a:ea typeface="Open Sans 2"/>
                <a:cs typeface="Open Sans 2"/>
                <a:sym typeface="Open Sans 2"/>
              </a:rPr>
              <a:t>loan_percent_income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" y="303800"/>
            <a:ext cx="634127" cy="13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based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30" y="2368953"/>
            <a:ext cx="4358211" cy="70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b="true" sz="996" spc="2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2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0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</a:t>
            </a:r>
            <a:r>
              <a:rPr lang="en-US" b="true" sz="996" spc="2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25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appears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critical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breaking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point,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dramatically accelerates.</a:t>
            </a:r>
          </a:p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Power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BI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Visualization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Suggestion: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Line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Chart: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Default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Rate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across</a:t>
            </a:r>
            <a:r>
              <a:rPr lang="en-US" sz="996" i="true" spc="1">
                <a:solidFill>
                  <a:srgbClr val="FFFFFF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binned</a:t>
            </a:r>
          </a:p>
          <a:p>
            <a:pPr algn="l">
              <a:lnSpc>
                <a:spcPts val="498"/>
              </a:lnSpc>
            </a:pPr>
            <a:r>
              <a:rPr lang="en-US" sz="996" i="true" spc="6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loan_percent_income</a:t>
            </a:r>
            <a:r>
              <a:rPr lang="en-US" sz="996" i="true" spc="6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996" i="true" spc="6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ratios.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9581" y="739750"/>
            <a:ext cx="4093007" cy="49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Definition: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loan_percent_income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amount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fraction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borrower’s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annual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income.</a:t>
            </a:r>
          </a:p>
          <a:p>
            <a:pPr algn="l">
              <a:lnSpc>
                <a:spcPts val="1793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Key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Finding: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severe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multiplier.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353" y="1241746"/>
            <a:ext cx="1142790" cy="2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LowRatio(Safe)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6169" y="1241746"/>
            <a:ext cx="1219581" cy="2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HighRatio(Critical)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7404" y="1535297"/>
            <a:ext cx="1867300" cy="47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Ratio&lt;0.10(Loanis&lt;10%of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Income).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1095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99230" y="1535297"/>
            <a:ext cx="287407" cy="1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23137" y="1595828"/>
            <a:ext cx="1407852" cy="14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≥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0.25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(Loan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≥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25%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9230" y="1601400"/>
            <a:ext cx="1154211" cy="48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Income).</a:t>
            </a:r>
          </a:p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DefaultRate:≈45%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3767" y="1937452"/>
            <a:ext cx="437045" cy="14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7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≈5%</a:t>
            </a:r>
            <a:r>
              <a:rPr lang="en-US" sz="996" spc="17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530" y="2120665"/>
            <a:ext cx="1336500" cy="2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Actionable Threshold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Credit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Risk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03" y="11430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003" y="1485900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19304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22733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04" y="24394"/>
            <a:ext cx="1925307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Demographic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Profile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Home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Ownership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30" y="868318"/>
            <a:ext cx="2770099" cy="1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1.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Home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Ownership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(person_home_ownership)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581" y="1055580"/>
            <a:ext cx="2711977" cy="52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Renters: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</a:t>
            </a:r>
          </a:p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constraints.</a:t>
            </a:r>
          </a:p>
          <a:p>
            <a:pPr algn="l">
              <a:lnSpc>
                <a:spcPts val="1095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Mortgage/Own: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Lower,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stable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profiles.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8191" y="1165250"/>
            <a:ext cx="2347998" cy="14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≈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25%)—potentially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liquidity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1566262"/>
            <a:ext cx="1818446" cy="2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2.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Borrower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Age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(person_age)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581" y="1944014"/>
            <a:ext cx="4103589" cy="8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Younger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Borrowers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(20-30):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rates,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correlating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shorter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9581" y="1964017"/>
            <a:ext cx="2558796" cy="21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credit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history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(cb_person_cred_hist_length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0338" y="2110273"/>
            <a:ext cx="595017" cy="14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≤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9581" y="2095138"/>
            <a:ext cx="3176845" cy="27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Older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Borrowers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(45+):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Exhibit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lowest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530" y="2433123"/>
            <a:ext cx="4366860" cy="35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Conclusion: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Risk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modeling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must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use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combined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score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of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age,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home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status,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and</a:t>
            </a:r>
          </a:p>
          <a:p>
            <a:pPr algn="l">
              <a:lnSpc>
                <a:spcPts val="759"/>
              </a:lnSpc>
            </a:pP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credit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history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length.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7/10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03" y="11430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003" y="14859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19304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22733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04" y="24394"/>
            <a:ext cx="1893341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Intent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Stability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Analyzing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purpose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history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length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30" y="870290"/>
            <a:ext cx="1633842" cy="1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Loan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Intent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(loan_intent):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581" y="1057542"/>
            <a:ext cx="4183866" cy="52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Highest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Risk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Intents: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Debt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Consolidation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Medical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often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show</a:t>
            </a:r>
          </a:p>
          <a:p>
            <a:pPr algn="l">
              <a:lnSpc>
                <a:spcPts val="896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elevated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risk,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suggesting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they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may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issued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during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periods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financial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stress.</a:t>
            </a:r>
          </a:p>
          <a:p>
            <a:pPr algn="l">
              <a:lnSpc>
                <a:spcPts val="2061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Lowest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Risk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Intents: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Education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Home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Improvement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tend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safer.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30" y="1606325"/>
            <a:ext cx="3246396" cy="2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Credit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History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Length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7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(cb_person_cred_hist_length):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581" y="1899876"/>
            <a:ext cx="4010549" cy="47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history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2-3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have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up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  <a:p>
            <a:pPr algn="l">
              <a:lnSpc>
                <a:spcPts val="14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35%. Loans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history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10+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have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stable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default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under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15%.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530" y="2358904"/>
            <a:ext cx="4331113" cy="4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Power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BI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Visualization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4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Suggestion: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Bar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Chart: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Default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Rate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segmented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1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by</a:t>
            </a:r>
          </a:p>
          <a:p>
            <a:pPr algn="l">
              <a:lnSpc>
                <a:spcPts val="498"/>
              </a:lnSpc>
            </a:pPr>
            <a:r>
              <a:rPr lang="en-US" sz="996" i="true" spc="6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loan_intent.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7" action="ppaction://hlinksldjump"/>
              </a:rPr>
              <a:t>Risk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8/10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03" y="12573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003" y="1790700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2324100"/>
            <a:ext cx="63503" cy="63503"/>
          </a:xfrm>
          <a:custGeom>
            <a:avLst/>
            <a:gdLst/>
            <a:ahLst/>
            <a:cxnLst/>
            <a:rect r="r" b="b" t="t" l="l"/>
            <a:pathLst>
              <a:path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004" y="24394"/>
            <a:ext cx="2350322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Proposed</a:t>
            </a:r>
            <a:r>
              <a:rPr lang="en-US" sz="143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Mitigation</a:t>
            </a:r>
            <a:r>
              <a:rPr lang="en-US" sz="143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Strategies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Translating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into</a:t>
            </a:r>
            <a:r>
              <a:rPr lang="en-US" sz="797" spc="-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policy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30" y="984418"/>
            <a:ext cx="2231117" cy="1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1.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Enforce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LTI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(Loan-to-Income)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9581" y="1171680"/>
            <a:ext cx="4183932" cy="3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Action: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Implement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upper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loan_percent_income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25%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</a:p>
          <a:p>
            <a:pPr algn="l">
              <a:lnSpc>
                <a:spcPts val="896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applications,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irrespective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530" y="1458678"/>
            <a:ext cx="1613202" cy="23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2.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Minimum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Credit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History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581" y="1760239"/>
            <a:ext cx="4100112" cy="27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Action: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minimum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cb_person_cred_hist_length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5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years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</a:p>
          <a:p>
            <a:pPr algn="l">
              <a:lnSpc>
                <a:spcPts val="1494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D-G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ensure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stability.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2047237"/>
            <a:ext cx="2118712" cy="1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3.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Segmented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Interest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Rate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581" y="2234489"/>
            <a:ext cx="3938397" cy="3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Action: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Review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adjust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interest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highest-risk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intents</a:t>
            </a:r>
          </a:p>
          <a:p>
            <a:pPr algn="l">
              <a:lnSpc>
                <a:spcPts val="896"/>
              </a:lnSpc>
            </a:pP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</a:t>
            </a:r>
            <a:r>
              <a:rPr lang="en-US" sz="996" i="true" spc="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Debt</a:t>
            </a:r>
            <a:r>
              <a:rPr lang="en-US" sz="996" i="true" spc="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Consolidation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</a:t>
            </a:r>
            <a:r>
              <a:rPr lang="en-US" sz="996" i="true" spc="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 </a:t>
            </a:r>
            <a:r>
              <a:rPr lang="en-US" sz="996" i="true" spc="2">
                <a:solidFill>
                  <a:srgbClr val="000000"/>
                </a:solidFill>
                <a:latin typeface="IBM Plex Sans Condensed Italics"/>
                <a:ea typeface="IBM Plex Sans Condensed Italics"/>
                <a:cs typeface="IBM Plex Sans Condensed Italics"/>
                <a:sym typeface="IBM Plex Sans Condensed Italics"/>
              </a:rPr>
              <a:t>Medical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)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fall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into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Credit</a:t>
            </a:r>
            <a:r>
              <a:rPr lang="en-US" sz="498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action="ppaction://hlinksldjump"/>
              </a:rPr>
              <a:t>Risk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96292" y="3361258"/>
            <a:ext cx="158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49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9/10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197" y="2235203"/>
            <a:ext cx="114300" cy="126997"/>
          </a:xfrm>
          <a:custGeom>
            <a:avLst/>
            <a:gdLst/>
            <a:ahLst/>
            <a:cxnLst/>
            <a:rect r="r" b="b" t="t" l="l"/>
            <a:pathLst>
              <a:path h="126997" w="114300">
                <a:moveTo>
                  <a:pt x="0" y="0"/>
                </a:moveTo>
                <a:lnTo>
                  <a:pt x="114300" y="0"/>
                </a:lnTo>
                <a:lnTo>
                  <a:pt x="114300" y="126997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03" y="2514600"/>
            <a:ext cx="241297" cy="431797"/>
          </a:xfrm>
          <a:custGeom>
            <a:avLst/>
            <a:gdLst/>
            <a:ahLst/>
            <a:cxnLst/>
            <a:rect r="r" b="b" t="t" l="l"/>
            <a:pathLst>
              <a:path h="431797" w="241297">
                <a:moveTo>
                  <a:pt x="0" y="0"/>
                </a:moveTo>
                <a:lnTo>
                  <a:pt x="241297" y="0"/>
                </a:lnTo>
                <a:lnTo>
                  <a:pt x="241297" y="431797"/>
                </a:lnTo>
                <a:lnTo>
                  <a:pt x="0" y="431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03" y="9398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003" y="12827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4003" y="1625603"/>
            <a:ext cx="63503" cy="76200"/>
          </a:xfrm>
          <a:custGeom>
            <a:avLst/>
            <a:gdLst/>
            <a:ahLst/>
            <a:cxnLst/>
            <a:rect r="r" b="b" t="t" l="l"/>
            <a:pathLst>
              <a:path h="76200" w="63503">
                <a:moveTo>
                  <a:pt x="0" y="0"/>
                </a:moveTo>
                <a:lnTo>
                  <a:pt x="63503" y="0"/>
                </a:lnTo>
                <a:lnTo>
                  <a:pt x="63503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4608004" cy="483137"/>
            <a:chOff x="0" y="0"/>
            <a:chExt cx="4608004" cy="483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07941" cy="483108"/>
            </a:xfrm>
            <a:custGeom>
              <a:avLst/>
              <a:gdLst/>
              <a:ahLst/>
              <a:cxnLst/>
              <a:rect r="r" b="b" t="t" l="l"/>
              <a:pathLst>
                <a:path h="483108" w="4607941">
                  <a:moveTo>
                    <a:pt x="0" y="483108"/>
                  </a:moveTo>
                  <a:lnTo>
                    <a:pt x="4607941" y="483108"/>
                  </a:lnTo>
                  <a:lnTo>
                    <a:pt x="4607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3200400"/>
            <a:ext cx="4737097" cy="330203"/>
          </a:xfrm>
          <a:custGeom>
            <a:avLst/>
            <a:gdLst/>
            <a:ahLst/>
            <a:cxnLst/>
            <a:rect r="r" b="b" t="t" l="l"/>
            <a:pathLst>
              <a:path h="330203" w="4737097">
                <a:moveTo>
                  <a:pt x="0" y="0"/>
                </a:moveTo>
                <a:lnTo>
                  <a:pt x="4737097" y="0"/>
                </a:lnTo>
                <a:lnTo>
                  <a:pt x="4737097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004" y="24394"/>
            <a:ext cx="2583932" cy="4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Conclusion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434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CC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Recommendations</a:t>
            </a:r>
          </a:p>
          <a:p>
            <a:pPr algn="l">
              <a:lnSpc>
                <a:spcPts val="1115"/>
              </a:lnSpc>
            </a:pP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Summary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</a:t>
            </a:r>
            <a:r>
              <a:rPr lang="en-US" sz="797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9">
                <a:solidFill>
                  <a:srgbClr val="CC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530" y="670150"/>
            <a:ext cx="1563900" cy="1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Summary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of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Key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Findings: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581" y="857402"/>
            <a:ext cx="4124249" cy="101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Grade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is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King: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correlates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almost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perfectly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loan_grade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</a:p>
          <a:p>
            <a:pPr algn="l">
              <a:lnSpc>
                <a:spcPts val="896"/>
              </a:lnSpc>
            </a:pPr>
            <a:r>
              <a:rPr lang="en-US" sz="996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loan_int_rate.</a:t>
            </a:r>
          </a:p>
          <a:p>
            <a:pPr algn="l">
              <a:lnSpc>
                <a:spcPts val="2092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LTI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is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Breaker: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25%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Loan-to-Income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ratio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threshold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strongest</a:t>
            </a:r>
          </a:p>
          <a:p>
            <a:pPr algn="l">
              <a:lnSpc>
                <a:spcPts val="498"/>
              </a:lnSpc>
            </a:pPr>
            <a:r>
              <a:rPr lang="en-US" sz="996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actionable</a:t>
            </a:r>
            <a:r>
              <a:rPr lang="en-US" sz="996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policy</a:t>
            </a:r>
            <a:r>
              <a:rPr lang="en-US" sz="996" spc="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point.</a:t>
            </a:r>
          </a:p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Combined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Risk: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Young,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renting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borrowers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short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histories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</a:t>
            </a:r>
          </a:p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highest-risk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segment.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30" y="1897551"/>
            <a:ext cx="695744" cy="27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Next</a:t>
            </a:r>
            <a:r>
              <a:rPr lang="en-US" b="true" sz="996" spc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b="true" sz="996" spc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Steps: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345" y="2276827"/>
            <a:ext cx="3966372" cy="8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Develop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robust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Logistic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Regression)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9581" y="2295306"/>
            <a:ext cx="1607906" cy="21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numeric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score.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345" y="2561292"/>
            <a:ext cx="2964771" cy="14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"/>
              </a:lnSpc>
            </a:pP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ConductanA/Btestontheimpactoftheproposed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92104" y="2596477"/>
            <a:ext cx="727243" cy="12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25%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LTI</a:t>
            </a: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3345" y="2617737"/>
            <a:ext cx="4038257" cy="27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996" spc="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Exploreexternaleconomicindicators(e.g.,localunemploymentrate)for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9581" y="2960065"/>
            <a:ext cx="1297791" cy="8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"/>
              </a:lnSpc>
            </a:pP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enhanced</a:t>
            </a:r>
            <a:r>
              <a:rPr lang="en-US" sz="996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  <a:r>
              <a:rPr lang="en-US" sz="996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0116" y="3361258"/>
            <a:ext cx="44446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48307" y="3361258"/>
            <a:ext cx="317544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8" action="ppaction://hlinksldjump"/>
              </a:rPr>
              <a:t>Credit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8" action="ppaction://hlinksldjump"/>
              </a:rPr>
              <a:t> </a:t>
            </a:r>
            <a:r>
              <a:rPr lang="en-US" sz="498" spc="-5">
                <a:solidFill>
                  <a:srgbClr val="8F0000"/>
                </a:solidFill>
                <a:latin typeface="IBM Plex Sans"/>
                <a:ea typeface="IBM Plex Sans"/>
                <a:cs typeface="IBM Plex Sans"/>
                <a:sym typeface="IBM Plex Sans"/>
                <a:hlinkClick r:id="rId8" action="ppaction://hlinksldjump"/>
              </a:rPr>
              <a:t>Risk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70539" y="3361258"/>
            <a:ext cx="560689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November</a:t>
            </a:r>
            <a:r>
              <a:rPr lang="en-US" sz="498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24,</a:t>
            </a:r>
            <a:r>
              <a:rPr lang="en-US" sz="498" spc="-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4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62707" y="3361258"/>
            <a:ext cx="192805" cy="8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"/>
              </a:lnSpc>
            </a:pPr>
            <a:r>
              <a:rPr lang="en-US" sz="498" spc="-5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498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8" spc="-5">
                <a:solidFill>
                  <a:srgbClr val="7A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DAG5xKbujZs</dc:identifier>
  <dcterms:modified xsi:type="dcterms:W3CDTF">2011-08-01T06:04:30Z</dcterms:modified>
  <cp:revision>1</cp:revision>
  <dc:title>Credit%20Risk%20Analysis%20Presentation.pdf</dc:title>
</cp:coreProperties>
</file>